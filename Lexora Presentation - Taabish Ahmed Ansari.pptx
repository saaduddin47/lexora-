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6600" b="1">
                <a:solidFill>
                  <a:srgbClr val="EAECF2"/>
                </a:solidFill>
                <a:latin typeface="Segoe UI"/>
              </a:rPr>
              <a:t>LEXORA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0">
                <a:solidFill>
                  <a:srgbClr val="6C8CFF"/>
                </a:solidFill>
                <a:latin typeface="Segoe UI"/>
              </a:rPr>
              <a:t>An Offline-First AI Assistant for Lawyers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3DD68C"/>
                </a:solidFill>
                <a:latin typeface="Segoe UI"/>
              </a:rPr>
              <a:t>Private  •  On-Device LLM  •  Zero Data Leaves the Machine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9AA3B5"/>
                </a:solidFill>
                <a:latin typeface="Segoe UI"/>
              </a:rPr>
              <a:t/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EAECF2"/>
                </a:solidFill>
                <a:latin typeface="Segoe UI"/>
              </a:rPr>
              <a:t>Taabish Ahmed Ansari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AA3B5"/>
                </a:solidFill>
                <a:latin typeface="Segoe UI"/>
              </a:rPr>
              <a:t>Faculty of Science &amp; Technology, IFHE University  •  June–July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AECF2"/>
                </a:solidFill>
                <a:latin typeface="Segoe UI"/>
              </a:rPr>
              <a:t>The Problem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AA3B5"/>
                </a:solidFill>
                <a:latin typeface="Segoe UI"/>
              </a:rPr>
              <a:t>Why lawyers can't just use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600" b="1">
                <a:solidFill>
                  <a:srgbClr val="EAECF2"/>
                </a:solidFill>
                <a:latin typeface="Segoe UI"/>
              </a:rPr>
              <a:t>Confidentiality — </a:t>
            </a:r>
            <a:r>
              <a:rPr sz="1600" b="0">
                <a:solidFill>
                  <a:srgbClr val="9AA3B5"/>
                </a:solidFill>
                <a:latin typeface="Segoe UI"/>
              </a:rPr>
              <a:t>attorney–client privilege makes it unacceptable to send case data to cloud AI services — every popular assistant is cloud-hosted.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600" b="1">
                <a:solidFill>
                  <a:srgbClr val="EAECF2"/>
                </a:solidFill>
                <a:latin typeface="Segoe UI"/>
              </a:rPr>
              <a:t>Fragmented memory — </a:t>
            </a:r>
            <a:r>
              <a:rPr sz="1600" b="0">
                <a:solidFill>
                  <a:srgbClr val="9AA3B5"/>
                </a:solidFill>
                <a:latin typeface="Segoe UI"/>
              </a:rPr>
              <a:t>client facts live across notebooks, e-mails, and memory; nothing remembers everything a client ever said and recalls it instantly.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600" b="1">
                <a:solidFill>
                  <a:srgbClr val="EAECF2"/>
                </a:solidFill>
                <a:latin typeface="Segoe UI"/>
              </a:rPr>
              <a:t>Missed contradictions — </a:t>
            </a:r>
            <a:r>
              <a:rPr sz="1600" b="0">
                <a:solidFill>
                  <a:srgbClr val="9AA3B5"/>
                </a:solidFill>
                <a:latin typeface="Segoe UI"/>
              </a:rPr>
              <a:t>clients contradict themselves weeks apart (“I was at the office at 5 PM” vs “I was not at the office”) — catching this manually across long case histories is error-prone.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600" b="1">
                <a:solidFill>
                  <a:srgbClr val="EAECF2"/>
                </a:solidFill>
                <a:latin typeface="Segoe UI"/>
              </a:rPr>
              <a:t>Administrative overhead — </a:t>
            </a:r>
            <a:r>
              <a:rPr sz="1600" b="0">
                <a:solidFill>
                  <a:srgbClr val="9AA3B5"/>
                </a:solidFill>
                <a:latin typeface="Segoe UI"/>
              </a:rPr>
              <a:t>summarizing calls, extracting action items, scheduling hearings, and e-mailing summaries eat into billable legal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349240"/>
            <a:ext cx="10607040" cy="77724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468112"/>
            <a:ext cx="10149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5C5C"/>
                </a:solidFill>
                <a:latin typeface="Segoe UI"/>
              </a:rPr>
              <a:t>The gap:  </a:t>
            </a:r>
            <a:r>
              <a:rPr sz="1500" b="0">
                <a:solidFill>
                  <a:srgbClr val="EAECF2"/>
                </a:solidFill>
                <a:latin typeface="Segoe UI"/>
              </a:rPr>
              <a:t>lawyers need AI-grade assistance with a guarantee that no client data ever leaves their machine.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6C8CFF"/>
                </a:solidFill>
                <a:latin typeface="Segoe UI"/>
              </a:rPr>
              <a:t>LEXORA</a:t>
            </a:r>
            <a:r>
              <a:rPr sz="1000" b="0">
                <a:solidFill>
                  <a:srgbClr val="9AA3B5"/>
                </a:solidFill>
                <a:latin typeface="Segoe UI"/>
              </a:rPr>
              <a:t>  •  Offline-First AI Assistant for Lawyers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9AA3B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AECF2"/>
                </a:solidFill>
                <a:latin typeface="Segoe UI"/>
              </a:rPr>
              <a:t>The Solution: Lexora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AA3B5"/>
                </a:solidFill>
                <a:latin typeface="Segoe UI"/>
              </a:rPr>
              <a:t>Everything that touches client data runs locally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682496"/>
            <a:ext cx="2980944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3DD68C"/>
                </a:solidFill>
                <a:latin typeface="Segoe UI"/>
              </a:rPr>
              <a:t>Offline Chat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9AA3B5"/>
                </a:solidFill>
                <a:latin typeface="Segoe UI"/>
              </a:rPr>
              <a:t>ChatGPT-style legal assistant powered by TinyLlama-1.1B running on-device (GPU fp16 or CPU).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682496"/>
            <a:ext cx="2980944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Persistent Memory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9AA3B5"/>
                </a:solidFill>
                <a:latin typeface="Segoe UI"/>
              </a:rPr>
              <a:t>Every client statement is embedded and indexed — recalled semantically in future chats, survives restarts.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5544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2168" y="1682496"/>
            <a:ext cx="2980944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Knowledge Graph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9AA3B5"/>
                </a:solidFill>
                <a:latin typeface="Segoe UI"/>
              </a:rPr>
              <a:t>Entities &amp; relations auto-extracted per client, rendered with a custom Canvas force-directed 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282696"/>
            <a:ext cx="2980944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3DD68C"/>
                </a:solidFill>
                <a:latin typeface="Segoe UI"/>
              </a:rPr>
              <a:t>Offline RAG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9AA3B5"/>
                </a:solidFill>
                <a:latin typeface="Segoe UI"/>
              </a:rPr>
              <a:t>Upload PDF case files; answers cite sources. Local embeddings + custom NumPy vector store.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1546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282696"/>
            <a:ext cx="2980944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5C5C"/>
                </a:solidFill>
                <a:latin typeface="Segoe UI"/>
              </a:rPr>
              <a:t>Contradiction Detection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9AA3B5"/>
                </a:solidFill>
                <a:latin typeface="Segoe UI"/>
              </a:rPr>
              <a:t>Deterministic engine flags polarity and time/number conflicts with prior testimony — red warning card.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1546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3282696"/>
            <a:ext cx="2980944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AI Call Assistant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9AA3B5"/>
                </a:solidFill>
                <a:latin typeface="Segoe UI"/>
              </a:rPr>
              <a:t>Live speech-to-text in the browser, real-time memory commits, auto meeting summary + action items.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7548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882896"/>
            <a:ext cx="2980944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Smart Scheduling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9AA3B5"/>
                </a:solidFill>
                <a:latin typeface="Segoe UI"/>
              </a:rPr>
              <a:t>Natural-language dates (“hearing next Friday 5pm”) → conflict check + one-click Google Calendar link.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7548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4882896"/>
            <a:ext cx="2980944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Case Dashboard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9AA3B5"/>
                </a:solidFill>
                <a:latin typeface="Segoe UI"/>
              </a:rPr>
              <a:t>Clients by status &amp; type, totals for calls, statements, documents, contradictions — with an activity audit trail.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47548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4882896"/>
            <a:ext cx="2980944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Client Management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9AA3B5"/>
                </a:solidFill>
                <a:latin typeface="Segoe UI"/>
              </a:rPr>
              <a:t>Create, update, delete clients; deletion purges chat, graph, calls, and every vector everywhere.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6C8CFF"/>
                </a:solidFill>
                <a:latin typeface="Segoe UI"/>
              </a:rPr>
              <a:t>LEXORA</a:t>
            </a:r>
            <a:r>
              <a:rPr sz="1000" b="0">
                <a:solidFill>
                  <a:srgbClr val="9AA3B5"/>
                </a:solidFill>
                <a:latin typeface="Segoe UI"/>
              </a:rPr>
              <a:t>  •  Offline-First AI Assistant for Lawyers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9AA3B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AECF2"/>
                </a:solidFill>
                <a:latin typeface="Segoe UI"/>
              </a:rPr>
              <a:t>System Architecture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AA3B5"/>
                </a:solidFill>
                <a:latin typeface="Segoe UI"/>
              </a:rPr>
              <a:t>A clean layered design — JSON on disk, no external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81328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49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Frontend  —  static/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A3B5"/>
                </a:solidFill>
                <a:latin typeface="Segoe UI"/>
              </a:rPr>
              <a:t>Vanilla HTML / CSS / JS  •  dark ChatGPT-style UI  •  HTML5 Canvas graph  •  Chart.js (vendored)  •  Web Speech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32304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05456"/>
            <a:ext cx="10149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API  —  app.py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A3B5"/>
                </a:solidFill>
                <a:latin typeface="Segoe UI"/>
              </a:rPr>
              <a:t>FastAPI + Uvicorn + Pydantic  •  REST endpoints: chat, clients, upload, live, call, dashboard  •  Twilio webhooks  •  no-cache middleware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38328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56432"/>
            <a:ext cx="10149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D68C"/>
                </a:solidFill>
                <a:latin typeface="Segoe UI"/>
              </a:rPr>
              <a:t>Orchestration  —  chat.py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A3B5"/>
                </a:solidFill>
                <a:latin typeface="Segoe UI"/>
              </a:rPr>
              <a:t>Builds each turn: memory recall + RAG chunks + recent turns + contradiction → LLM → clean → graph update → persist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34256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07408"/>
            <a:ext cx="10149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3DD68C"/>
                </a:solidFill>
                <a:latin typeface="Segoe UI"/>
              </a:rPr>
              <a:t>Core engines  —  llm.py  •  rag.py  •  memory.py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A3B5"/>
                </a:solidFill>
                <a:latin typeface="Segoe UI"/>
              </a:rPr>
              <a:t>TinyLlama generation + JSON extraction  •  BGE embeddings + NumPy cosine index + pypdf ingest  •  clients, graph, contradiction engine, activity 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285232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58384"/>
            <a:ext cx="10149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9AA3B5"/>
                </a:solidFill>
                <a:latin typeface="Segoe UI"/>
              </a:rPr>
              <a:t>Persistence  —  data/  &amp;  chroma_db/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9AA3B5"/>
                </a:solidFill>
                <a:latin typeface="Segoe UI"/>
              </a:rPr>
              <a:t>store.json (all case data)  •  documents.json + memory.json (vectors)  •  thread-safe (RLock), flushed on every 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54496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AECF2"/>
                </a:solidFill>
                <a:latin typeface="Segoe UI"/>
              </a:rPr>
              <a:t>Side modules: </a:t>
            </a:r>
            <a:r>
              <a:rPr sz="1200" b="0">
                <a:solidFill>
                  <a:srgbClr val="9AA3B5"/>
                </a:solidFill>
                <a:latin typeface="Segoe UI"/>
              </a:rPr>
              <a:t>calendarx.py (NL scheduling)  •  mailer.py (Gmail SMTP)  •  telephony.py (Twilio real calls)  •  seed_data.py (demo data + PDF generator)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6C8CFF"/>
                </a:solidFill>
                <a:latin typeface="Segoe UI"/>
              </a:rPr>
              <a:t>LEXORA</a:t>
            </a:r>
            <a:r>
              <a:rPr sz="1000" b="0">
                <a:solidFill>
                  <a:srgbClr val="9AA3B5"/>
                </a:solidFill>
                <a:latin typeface="Segoe UI"/>
              </a:rPr>
              <a:t>  •  Offline-First AI Assistant for Lawyers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9AA3B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AECF2"/>
                </a:solidFill>
                <a:latin typeface="Segoe UI"/>
              </a:rPr>
              <a:t>Anatomy of a Chat Turn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AA3B5"/>
                </a:solidFill>
                <a:latin typeface="Segoe UI"/>
              </a:rPr>
              <a:t>What happens when the lawyer sends one message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10607040" cy="676656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91056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C8CFF"/>
                </a:solidFill>
                <a:latin typeface="Segoe UI"/>
              </a:rPr>
              <a:t>1.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591056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AECF2"/>
                </a:solidFill>
                <a:latin typeface="Segoe UI"/>
              </a:rPr>
              <a:t>Message saved as a client statement, embedded, and added to the memory vector index.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95144"/>
            <a:ext cx="10607040" cy="676656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C8CFF"/>
                </a:solidFill>
                <a:latin typeface="Segoe UI"/>
              </a:rPr>
              <a:t>2.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37744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AECF2"/>
                </a:solidFill>
                <a:latin typeface="Segoe UI"/>
              </a:rPr>
              <a:t>Contradiction engine recalls similar past statements and runs polarity + numeric/time conflict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81528"/>
            <a:ext cx="10607040" cy="676656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63824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C8CFF"/>
                </a:solidFill>
                <a:latin typeface="Segoe UI"/>
              </a:rPr>
              <a:t>3. Assemble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63824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AECF2"/>
                </a:solidFill>
                <a:latin typeface="Segoe UI"/>
              </a:rPr>
              <a:t>Context = semantic memory recall + top-k RAG chunks + recent turns + any detected contradiction.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67912"/>
            <a:ext cx="10607040" cy="676656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50208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C8CFF"/>
                </a:solidFill>
                <a:latin typeface="Segoe UI"/>
              </a:rPr>
              <a:t>4. Generate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50208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AECF2"/>
                </a:solidFill>
                <a:latin typeface="Segoe UI"/>
              </a:rPr>
              <a:t>TinyLlama produces the reply (chat template, temperature / top-p / repetition penalty); regex strips hallucinated URLs and context echo.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54296"/>
            <a:ext cx="10607040" cy="676656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36592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C8CFF"/>
                </a:solidFill>
                <a:latin typeface="Segoe UI"/>
              </a:rPr>
              <a:t>5. 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736592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AECF2"/>
                </a:solidFill>
                <a:latin typeface="Segoe UI"/>
              </a:rPr>
              <a:t>Entities &amp; relations extracted as JSON, sanitized, merged case-insensitively into the client's knowledge graph.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440680"/>
            <a:ext cx="10607040" cy="676656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22976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C8CFF"/>
                </a:solidFill>
                <a:latin typeface="Segoe UI"/>
              </a:rPr>
              <a:t>6. Persist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522976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AECF2"/>
                </a:solidFill>
                <a:latin typeface="Segoe UI"/>
              </a:rPr>
              <a:t>Everything flushed to store.json and the JSON vector files — close the app, reopen, nothing is lost.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6C8CFF"/>
                </a:solidFill>
                <a:latin typeface="Segoe UI"/>
              </a:rPr>
              <a:t>LEXORA</a:t>
            </a:r>
            <a:r>
              <a:rPr sz="1000" b="0">
                <a:solidFill>
                  <a:srgbClr val="9AA3B5"/>
                </a:solidFill>
                <a:latin typeface="Segoe UI"/>
              </a:rPr>
              <a:t>  •  Offline-First AI Assistant for Lawyers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9AA3B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AECF2"/>
                </a:solidFill>
                <a:latin typeface="Segoe UI"/>
              </a:rPr>
              <a:t>The Local LLM Layer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AA3B5"/>
                </a:solidFill>
                <a:latin typeface="Segoe UI"/>
              </a:rPr>
              <a:t>Small model, big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TinyLlama-1.1B-Chat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loaded lazily via HuggingFace Transformers + PyTorch; fp16 on CUDA GPU, fp32 on CPU.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Native chat template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with sampling controls — temperature, top-p, repetition penalty.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Output hygiene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regex post-processing strips hallucinated URLs and context-echo lines small models emit.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Structured generation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generate_json() extracts the first balanced JSON object from raw output — tolerates code fences and prose.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Silent fallback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optional, env-gated Gemini fallback only on local failure; never shown in the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508760"/>
            <a:ext cx="4297680" cy="420624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691640"/>
            <a:ext cx="38404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3DD68C"/>
                </a:solidFill>
                <a:latin typeface="Segoe UI"/>
              </a:rPr>
              <a:t>Design principle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00" b="0">
                <a:solidFill>
                  <a:srgbClr val="9AA3B5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AECF2"/>
                </a:solidFill>
                <a:latin typeface="Segoe UI"/>
              </a:rPr>
              <a:t>Treat the model as one component in a pipeline — not an oracle.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00" b="0">
                <a:solidFill>
                  <a:srgbClr val="9AA3B5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AA3B5"/>
                </a:solidFill>
                <a:latin typeface="Segoe UI"/>
              </a:rPr>
              <a:t>Deterministic engines back the 1.1B model on every must-be-correct task: contradictions, action items, graph labels.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00" b="0">
                <a:solidFill>
                  <a:srgbClr val="9AA3B5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AA3B5"/>
                </a:solidFill>
                <a:latin typeface="Segoe UI"/>
              </a:rPr>
              <a:t>Result: demos stay reliable regardless of the small model's variance.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6C8CFF"/>
                </a:solidFill>
                <a:latin typeface="Segoe UI"/>
              </a:rPr>
              <a:t>LEXORA</a:t>
            </a:r>
            <a:r>
              <a:rPr sz="1000" b="0">
                <a:solidFill>
                  <a:srgbClr val="9AA3B5"/>
                </a:solidFill>
                <a:latin typeface="Segoe UI"/>
              </a:rPr>
              <a:t>  •  Offline-First AI Assistant for Lawyers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9AA3B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AECF2"/>
                </a:solidFill>
                <a:latin typeface="Segoe UI"/>
              </a:rPr>
              <a:t>Offline RAG over Case Documents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AA3B5"/>
                </a:solidFill>
                <a:latin typeface="Segoe UI"/>
              </a:rPr>
              <a:t>PDF in → cited answers out — no internet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27632"/>
            <a:ext cx="148132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AECF2"/>
                </a:solidFill>
                <a:latin typeface="Segoe UI"/>
              </a:rPr>
              <a:t>PDF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0008" y="1700784"/>
            <a:ext cx="320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6C8CFF"/>
                </a:solidFill>
                <a:latin typeface="Segoe UI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9464" y="16002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42616" y="1627632"/>
            <a:ext cx="148132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AECF2"/>
                </a:solidFill>
                <a:latin typeface="Segoe UI"/>
              </a:rPr>
              <a:t>pypdf text 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2232" y="1700784"/>
            <a:ext cx="320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6C8CFF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002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27632"/>
            <a:ext cx="148132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AECF2"/>
                </a:solidFill>
                <a:latin typeface="Segoe UI"/>
              </a:rPr>
              <a:t>Chunk 900/150 overlap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6" y="1700784"/>
            <a:ext cx="320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6C8CFF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6002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627632"/>
            <a:ext cx="148132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AECF2"/>
                </a:solidFill>
                <a:latin typeface="Segoe UI"/>
              </a:rPr>
              <a:t>BGE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1700784"/>
            <a:ext cx="320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6C8CFF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46136" y="16002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1627632"/>
            <a:ext cx="148132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AECF2"/>
                </a:solidFill>
                <a:latin typeface="Segoe UI"/>
              </a:rPr>
              <a:t>NumPy cosine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18904" y="1700784"/>
            <a:ext cx="320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6C8CFF"/>
                </a:solidFill>
                <a:latin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1600200"/>
            <a:ext cx="1627632" cy="86868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1512" y="1627632"/>
            <a:ext cx="148132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AECF2"/>
                </a:solidFill>
                <a:latin typeface="Segoe UI"/>
              </a:rPr>
              <a:t>Top-k cited answer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834640"/>
            <a:ext cx="10607040" cy="155448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999232"/>
            <a:ext cx="10149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FF5C5C"/>
                </a:solidFill>
                <a:latin typeface="Segoe UI"/>
              </a:rPr>
              <a:t>War story: why a custom vector store?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9AA3B5"/>
                </a:solidFill>
                <a:latin typeface="Segoe UI"/>
              </a:rPr>
              <a:t>The installed ChromaDB build threw a fatal mismatched-types (u64/BLOB) compaction error on a fresh database — silently dropping every vector. Replaced it with a dependency-light NumPy cosine index (vectors normalized → cosine = dot product) persisted as JSON. Same retrieval quality, zero failure points.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1772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Per-client filtering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retrieval is scoped to the active client, falling back to the shared library.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Source citation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every answer names the document it came from.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6C8CFF"/>
                </a:solidFill>
                <a:latin typeface="Segoe UI"/>
              </a:rPr>
              <a:t>LEXORA</a:t>
            </a:r>
            <a:r>
              <a:rPr sz="1000" b="0">
                <a:solidFill>
                  <a:srgbClr val="9AA3B5"/>
                </a:solidFill>
                <a:latin typeface="Segoe UI"/>
              </a:rPr>
              <a:t>  •  Offline-First AI Assistant for Lawyers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9AA3B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AECF2"/>
                </a:solidFill>
                <a:latin typeface="Segoe UI"/>
              </a:rPr>
              <a:t>Memory &amp; Knowledge Graph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AA3B5"/>
                </a:solidFill>
                <a:latin typeface="Segoe UI"/>
              </a:rPr>
              <a:t>Lexora remembers — and connects the dots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60350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Semantic recall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each statement is embedded; future chats retrieve the most similar past statements into context — ChatGPT-like memory that survives restarts.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Auto-extraction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TinyLlama returns {entities, relations} JSON per factual message.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Sanitization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heuristics drop hallucinated URLs and placeholder labels (“PERSON”, “DATE”).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Smart merging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case-insensitive node/edge merge — the same entity across different conversations connects automatically; orphans attach to the client node.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No graph DB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plain {nodes, edges} lists in store.json.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1508760"/>
            <a:ext cx="4297680" cy="438912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691640"/>
            <a:ext cx="38404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6C8CFF"/>
                </a:solidFill>
                <a:latin typeface="Segoe UI"/>
              </a:rPr>
              <a:t>Custom Canvas renderer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00" b="0">
                <a:solidFill>
                  <a:srgbClr val="9AA3B5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EAECF2"/>
                </a:solidFill>
                <a:latin typeface="Segoe UI"/>
              </a:rPr>
              <a:t>A force-directed graph built from scratch on HTML5 Canvas: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" b="0">
                <a:solidFill>
                  <a:srgbClr val="9AA3B5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AA3B5"/>
                </a:solidFill>
                <a:latin typeface="Segoe UI"/>
              </a:rPr>
              <a:t>▪  node–node repulsion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AA3B5"/>
                </a:solidFill>
                <a:latin typeface="Segoe UI"/>
              </a:rPr>
              <a:t>▪  spring attraction along edges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AA3B5"/>
                </a:solidFill>
                <a:latin typeface="Segoe UI"/>
              </a:rPr>
              <a:t>▪  center gravity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AA3B5"/>
                </a:solidFill>
                <a:latin typeface="Segoe UI"/>
              </a:rPr>
              <a:t>▪  drag-to-move interaction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AA3B5"/>
                </a:solidFill>
                <a:latin typeface="Segoe UI"/>
              </a:rPr>
              <a:t>▪  color-coded entity types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00" b="0">
                <a:solidFill>
                  <a:srgbClr val="9AA3B5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3DD68C"/>
                </a:solidFill>
                <a:latin typeface="Segoe UI"/>
              </a:rPr>
              <a:t>Zero external libraries — no D3, no vis.js, no three.js.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6C8CFF"/>
                </a:solidFill>
                <a:latin typeface="Segoe UI"/>
              </a:rPr>
              <a:t>LEXORA</a:t>
            </a:r>
            <a:r>
              <a:rPr sz="1000" b="0">
                <a:solidFill>
                  <a:srgbClr val="9AA3B5"/>
                </a:solidFill>
                <a:latin typeface="Segoe UI"/>
              </a:rPr>
              <a:t>  •  Offline-First AI Assistant for Lawyers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9AA3B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AECF2"/>
                </a:solidFill>
                <a:latin typeface="Segoe UI"/>
              </a:rPr>
              <a:t>Contradiction Detection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AA3B5"/>
                </a:solidFill>
                <a:latin typeface="Segoe UI"/>
              </a:rPr>
              <a:t>Deterministic by design — too important to leave to a 1.1B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120640" cy="210312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64208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FF5C5C"/>
                </a:solidFill>
                <a:latin typeface="Segoe UI"/>
              </a:rPr>
              <a:t>Rule 1 — Polarity flip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9AA3B5"/>
                </a:solidFill>
                <a:latin typeface="Segoe UI"/>
              </a:rPr>
              <a:t>Same subject (shared tokens + cosine ≥ 0.45), one statement affirms, the other denies.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300" b="0">
                <a:solidFill>
                  <a:srgbClr val="9AA3B5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EAECF2"/>
                </a:solidFill>
                <a:latin typeface="Segoe UI"/>
              </a:rPr>
              <a:t>“I was at the office”  vs  “I was NOT at the office”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08760"/>
            <a:ext cx="5120640" cy="210312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64208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FF5C5C"/>
                </a:solidFill>
                <a:latin typeface="Segoe UI"/>
              </a:rPr>
              <a:t>Rule 2 — Number / time conflict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0">
                <a:solidFill>
                  <a:srgbClr val="9AA3B5"/>
                </a:solidFill>
                <a:latin typeface="Segoe UI"/>
              </a:rPr>
              <a:t>Same subject but different numbers or clock times, while skipping corroborating evidence.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300" b="0">
                <a:solidFill>
                  <a:srgbClr val="9AA3B5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EAECF2"/>
                </a:solidFill>
                <a:latin typeface="Segoe UI"/>
              </a:rPr>
              <a:t>“left at 5 PM”  vs  “left at 9 PM”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Pipeline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new statement → embedded → most similar prior statements recalled from the client's memory index → rules applied.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Explanation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the chatbot explains the conflict in natural language (TinyLlama).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Guaranteed visual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a red warning card always appears in the UI when a contradiction is found.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6C8CFF"/>
                </a:solidFill>
                <a:latin typeface="Segoe UI"/>
              </a:rPr>
              <a:t>LEXORA</a:t>
            </a:r>
            <a:r>
              <a:rPr sz="1000" b="0">
                <a:solidFill>
                  <a:srgbClr val="9AA3B5"/>
                </a:solidFill>
                <a:latin typeface="Segoe UI"/>
              </a:rPr>
              <a:t>  •  Offline-First AI Assistant for Lawyers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9AA3B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AECF2"/>
                </a:solidFill>
                <a:latin typeface="Segoe UI"/>
              </a:rPr>
              <a:t>AI Call Assistant &amp; Live Calls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AA3B5"/>
                </a:solidFill>
                <a:latin typeface="Segoe UI"/>
              </a:rPr>
              <a:t>The assistant listens, remembers, and writes the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50" b="1">
                <a:solidFill>
                  <a:srgbClr val="EAECF2"/>
                </a:solidFill>
                <a:latin typeface="Segoe UI"/>
              </a:rPr>
              <a:t>Private speech-to-text — </a:t>
            </a:r>
            <a:r>
              <a:rPr sz="1450" b="0">
                <a:solidFill>
                  <a:srgbClr val="9AA3B5"/>
                </a:solidFill>
                <a:latin typeface="Segoe UI"/>
              </a:rPr>
              <a:t>browser-native Web Speech API (Chrome/Edge) — no audio ever leaves the machine; for a real two-phone call, the phone goes on speaker next to the laptop.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50" b="1">
                <a:solidFill>
                  <a:srgbClr val="EAECF2"/>
                </a:solidFill>
                <a:latin typeface="Segoe UI"/>
              </a:rPr>
              <a:t>Real-time pipeline — </a:t>
            </a:r>
            <a:r>
              <a:rPr sz="1450" b="0">
                <a:solidFill>
                  <a:srgbClr val="9AA3B5"/>
                </a:solidFill>
                <a:latin typeface="Segoe UI"/>
              </a:rPr>
              <a:t>each finalized utterance hits /api/live → committed to memory + knowledge graph instantly, with live contradiction checks.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50" b="1">
                <a:solidFill>
                  <a:srgbClr val="EAECF2"/>
                </a:solidFill>
                <a:latin typeface="Segoe UI"/>
              </a:rPr>
              <a:t>Auto client creation — </a:t>
            </a:r>
            <a:r>
              <a:rPr sz="1450" b="0">
                <a:solidFill>
                  <a:srgbClr val="9AA3B5"/>
                </a:solidFill>
                <a:latin typeface="Segoe UI"/>
              </a:rPr>
              <a:t>a name detector (“my name is …”) plus a keyword case-type classifier (theft → Criminal, divorce → Divorce) creates a new client mid-call when none is selected.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50" b="1">
                <a:solidFill>
                  <a:srgbClr val="EAECF2"/>
                </a:solidFill>
                <a:latin typeface="Segoe UI"/>
              </a:rPr>
              <a:t>End of call — </a:t>
            </a:r>
            <a:r>
              <a:rPr sz="1450" b="0">
                <a:solidFill>
                  <a:srgbClr val="9AA3B5"/>
                </a:solidFill>
                <a:latin typeface="Segoe UI"/>
              </a:rPr>
              <a:t>TinyLlama writes the meeting summary; action items extracted via LLM JSON with a robust regex fallback (“will”, “send by Friday”, “follow up”).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50" b="1">
                <a:solidFill>
                  <a:srgbClr val="EAECF2"/>
                </a:solidFill>
                <a:latin typeface="Segoe UI"/>
              </a:rPr>
              <a:t>Real telephony (optional) — </a:t>
            </a:r>
            <a:r>
              <a:rPr sz="1450" b="0">
                <a:solidFill>
                  <a:srgbClr val="9AA3B5"/>
                </a:solidFill>
                <a:latin typeface="Segoe UI"/>
              </a:rPr>
              <a:t>Twilio integration with server-side transcription callbacks for genuine phone calls.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6C8CFF"/>
                </a:solidFill>
                <a:latin typeface="Segoe UI"/>
              </a:rPr>
              <a:t>LEXORA</a:t>
            </a:r>
            <a:r>
              <a:rPr sz="1000" b="0">
                <a:solidFill>
                  <a:srgbClr val="9AA3B5"/>
                </a:solidFill>
                <a:latin typeface="Segoe UI"/>
              </a:rPr>
              <a:t>  •  Offline-First AI Assistant for Lawyers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9AA3B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AECF2"/>
                </a:solidFill>
                <a:latin typeface="Segoe UI"/>
              </a:rPr>
              <a:t>Scheduling, E-mail &amp; Dashboard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AA3B5"/>
                </a:solidFill>
                <a:latin typeface="Segoe UI"/>
              </a:rPr>
              <a:t>Rounding out the product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682496"/>
            <a:ext cx="3026664" cy="3950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6C8CFF"/>
                </a:solidFill>
                <a:latin typeface="Segoe UI"/>
              </a:rPr>
              <a:t>Smart Scheduling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9AA3B5"/>
                </a:solidFill>
                <a:latin typeface="Segoe UI"/>
              </a:rPr>
              <a:t>Detects scheduling intent via cue words — and excludes past testimony (“he said he met her Friday” is not an appointment).
Regex pulls clock times first so “11am” isn't parsed as day 11; dateparser resolves the date (future-preferring).
Conflict check + one-click “Add to Google Calendar” link.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682496"/>
            <a:ext cx="3026664" cy="3950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3DD68C"/>
                </a:solidFill>
                <a:latin typeface="Segoe UI"/>
              </a:rPr>
              <a:t>Case Summary E-mails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9AA3B5"/>
                </a:solidFill>
                <a:latin typeface="Segoe UI"/>
              </a:rPr>
              <a:t>One click sends a case summary to the client via Gmail SMTP (app password).
Falls back to a default recipient for demo clients with no e-mail on 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554480"/>
            <a:ext cx="3429000" cy="420624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2168" y="1682496"/>
            <a:ext cx="3026664" cy="3950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6C8CFF"/>
                </a:solidFill>
                <a:latin typeface="Segoe UI"/>
              </a:rPr>
              <a:t>Case Insights Dashboard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9AA3B5"/>
                </a:solidFill>
                <a:latin typeface="Segoe UI"/>
              </a:rPr>
              <a:t>Clients aggregated by status (solved / unsolved / …) and case type.
Totals for calls, statements, documents, contradictions.
Chart.js doughnut + bar charts on a dark theme.
Activity log: who-did-what-when for every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6C8CFF"/>
                </a:solidFill>
                <a:latin typeface="Segoe UI"/>
              </a:rPr>
              <a:t>LEXORA</a:t>
            </a:r>
            <a:r>
              <a:rPr sz="1000" b="0">
                <a:solidFill>
                  <a:srgbClr val="9AA3B5"/>
                </a:solidFill>
                <a:latin typeface="Segoe UI"/>
              </a:rPr>
              <a:t>  •  Offline-First AI Assistant for Lawyers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9AA3B5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AECF2"/>
                </a:solidFill>
                <a:latin typeface="Segoe UI"/>
              </a:rPr>
              <a:t>Technology Stack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AA3B5"/>
                </a:solidFill>
                <a:latin typeface="Segoe UI"/>
              </a:rPr>
              <a:t>Deliberately lightweight — everything local, everything inspectable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81328"/>
            <a:ext cx="10607040" cy="512064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2704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C8CFF"/>
                </a:solidFill>
                <a:latin typeface="Segoe UI"/>
              </a:rPr>
              <a:t>Language /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527048"/>
            <a:ext cx="7406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AECF2"/>
                </a:solidFill>
                <a:latin typeface="Segoe UI"/>
              </a:rPr>
              <a:t>Python 3.11 (CUDA-enabled)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75688"/>
            <a:ext cx="10607040" cy="512064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C8CFF"/>
                </a:solidFill>
                <a:latin typeface="Segoe UI"/>
              </a:rP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121408"/>
            <a:ext cx="7406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AECF2"/>
                </a:solidFill>
                <a:latin typeface="Segoe UI"/>
              </a:rPr>
              <a:t>TinyLlama-1.1B-Chat — HuggingFace Transformers + PyTorch (fp16 GPU / CPU)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70048"/>
            <a:ext cx="10607040" cy="512064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1576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C8CFF"/>
                </a:solidFill>
                <a:latin typeface="Segoe UI"/>
              </a:rPr>
              <a:t>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715768"/>
            <a:ext cx="7406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AECF2"/>
                </a:solidFill>
                <a:latin typeface="Segoe UI"/>
              </a:rPr>
              <a:t>BGE-small-en-v1.5 via sentence-transformers — 384-dim, normalized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64408"/>
            <a:ext cx="10607040" cy="512064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1012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C8CFF"/>
                </a:solidFill>
                <a:latin typeface="Segoe UI"/>
              </a:rPr>
              <a:t>Vector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310128"/>
            <a:ext cx="7406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AECF2"/>
                </a:solidFill>
                <a:latin typeface="Segoe UI"/>
              </a:rPr>
              <a:t>Custom NumPy cosine index, persisted as JSON (replaced ChromaDB)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58768"/>
            <a:ext cx="10607040" cy="512064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0448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C8CFF"/>
                </a:solidFill>
                <a:latin typeface="Segoe UI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904488"/>
            <a:ext cx="7406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AECF2"/>
                </a:solidFill>
                <a:latin typeface="Segoe UI"/>
              </a:rPr>
              <a:t>FastAPI + Uvicorn + Pydantic  •  pypdf  •  python-multipart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53128"/>
            <a:ext cx="10607040" cy="512064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9884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C8CFF"/>
                </a:solidFill>
                <a:latin typeface="Segoe UI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498848"/>
            <a:ext cx="7406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AECF2"/>
                </a:solidFill>
                <a:latin typeface="Segoe UI"/>
              </a:rPr>
              <a:t>Vanilla HTML/CSS/JS  •  HTML5 Canvas  •  Chart.js (vendored)  •  Web Speech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47488"/>
            <a:ext cx="10607040" cy="512064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9320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C8CFF"/>
                </a:solidFill>
                <a:latin typeface="Segoe UI"/>
              </a:rPr>
              <a:t>Integrations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093208"/>
            <a:ext cx="7406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AECF2"/>
                </a:solidFill>
                <a:latin typeface="Segoe UI"/>
              </a:rPr>
              <a:t>Gmail SMTP  •  Google Calendar links  •  Twilio voice (optional)  •  dateparser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641848"/>
            <a:ext cx="10607040" cy="512064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687568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C8CFF"/>
                </a:solidFill>
                <a:latin typeface="Segoe UI"/>
              </a:rPr>
              <a:t>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687568"/>
            <a:ext cx="7406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AECF2"/>
                </a:solidFill>
                <a:latin typeface="Segoe UI"/>
              </a:rPr>
              <a:t>JSON files — store.json + documents.json + memory.json (human-readable, portable)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6C8CFF"/>
                </a:solidFill>
                <a:latin typeface="Segoe UI"/>
              </a:rPr>
              <a:t>LEXORA</a:t>
            </a:r>
            <a:r>
              <a:rPr sz="1000" b="0">
                <a:solidFill>
                  <a:srgbClr val="9AA3B5"/>
                </a:solidFill>
                <a:latin typeface="Segoe UI"/>
              </a:rPr>
              <a:t>  •  Offline-First AI Assistant for Lawyers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9AA3B5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AECF2"/>
                </a:solidFill>
                <a:latin typeface="Segoe UI"/>
              </a:rPr>
              <a:t>Challenges &amp; Learnings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AA3B5"/>
                </a:solidFill>
                <a:latin typeface="Segoe UI"/>
              </a:rPr>
              <a:t>What building Lexora taught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Taming a 1.1B model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small LLMs hallucinate URLs, echo context, emit broken JSON. Learning: wrap the model in layered defenses — output hygiene, balanced-JSON extraction, label sanitization, deterministic engines for correctness-critical tasks.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The ChromaDB failure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a fatal compaction bug silently dropped every vector. Learning: understanding the math (normalized embeddings → cosine = dot product) made the heavyweight dependency unnecessary — 40 lines of NumPy replaced it.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Natural-language dates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“meet at 11am” was parsed as “day 11”. Learning: extract clock times with regex before date parsing; prefer future dates; exclude testimony sentences from scheduling.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40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00" b="1">
                <a:solidFill>
                  <a:srgbClr val="EAECF2"/>
                </a:solidFill>
                <a:latin typeface="Segoe UI"/>
              </a:rPr>
              <a:t>Data hygiene — </a:t>
            </a:r>
            <a:r>
              <a:rPr sz="1400" b="0">
                <a:solidFill>
                  <a:srgbClr val="9AA3B5"/>
                </a:solidFill>
                <a:latin typeface="Segoe UI"/>
              </a:rPr>
              <a:t>deleting a client must purge chat, statements, graph, calls, and vectors in two indexes. Learning: design deletion paths as carefully as creation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6C8CFF"/>
                </a:solidFill>
                <a:latin typeface="Segoe UI"/>
              </a:rPr>
              <a:t>LEXORA</a:t>
            </a:r>
            <a:r>
              <a:rPr sz="1000" b="0">
                <a:solidFill>
                  <a:srgbClr val="9AA3B5"/>
                </a:solidFill>
                <a:latin typeface="Segoe UI"/>
              </a:rPr>
              <a:t>  •  Offline-First AI Assistant for Lawyers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9AA3B5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" cy="5669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AECF2"/>
                </a:solidFill>
                <a:latin typeface="Segoe UI"/>
              </a:rPr>
              <a:t>Conclusion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10607040" cy="1371600"/>
          </a:xfrm>
          <a:prstGeom prst="roundRect">
            <a:avLst>
              <a:gd name="adj" fmla="val 8000"/>
            </a:avLst>
          </a:prstGeom>
          <a:solidFill>
            <a:srgbClr val="1C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64208"/>
            <a:ext cx="10149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EAECF2"/>
                </a:solidFill>
                <a:latin typeface="Segoe UI"/>
              </a:rPr>
              <a:t>Lexora proves a genuinely useful, private AI assistant for lawyers can run entirely on local hardware — </a:t>
            </a:r>
            <a:r>
              <a:rPr sz="1500" b="1">
                <a:solidFill>
                  <a:srgbClr val="3DD68C"/>
                </a:solidFill>
                <a:latin typeface="Segoe UI"/>
              </a:rPr>
              <a:t>conversational help, persistent memory, document intelligence, contradiction detection, call summaries, scheduling, and analytics, with zero bytes of client data leaving the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6C8CFF"/>
                </a:solidFill>
                <a:latin typeface="Segoe UI"/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106070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50" b="0">
                <a:solidFill>
                  <a:srgbClr val="EAECF2"/>
                </a:solidFill>
                <a:latin typeface="Segoe UI"/>
              </a:rPr>
              <a:t>Upgrade to newer small models (Phi-3, Llama-3.2-1B) and fine-tune on legal corpora.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50" b="0">
                <a:solidFill>
                  <a:srgbClr val="EAECF2"/>
                </a:solidFill>
                <a:latin typeface="Segoe UI"/>
              </a:rPr>
              <a:t>OCR for scanned filings and richer document understanding.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50" b="0">
                <a:solidFill>
                  <a:srgbClr val="EAECF2"/>
                </a:solidFill>
                <a:latin typeface="Segoe UI"/>
              </a:rPr>
              <a:t>Multi-user support with authentication and role-based access.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6C8CFF"/>
                </a:solidFill>
                <a:latin typeface="Segoe UI"/>
              </a:rPr>
              <a:t>▪  </a:t>
            </a:r>
            <a:r>
              <a:rPr sz="1450" b="0">
                <a:solidFill>
                  <a:srgbClr val="EAECF2"/>
                </a:solidFill>
                <a:latin typeface="Segoe UI"/>
              </a:rPr>
              <a:t>Package as a signed desktop installer for non-technical users.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6C8CFF"/>
                </a:solidFill>
                <a:latin typeface="Segoe UI"/>
              </a:rPr>
              <a:t>LEXORA</a:t>
            </a:r>
            <a:r>
              <a:rPr sz="1000" b="0">
                <a:solidFill>
                  <a:srgbClr val="9AA3B5"/>
                </a:solidFill>
                <a:latin typeface="Segoe UI"/>
              </a:rPr>
              <a:t>  •  Offline-First AI Assistant for Lawyers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9AA3B5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5400" b="1">
                <a:solidFill>
                  <a:srgbClr val="EAECF2"/>
                </a:solidFill>
                <a:latin typeface="Segoe UI"/>
              </a:rPr>
              <a:t>Thank You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2000" b="0">
                <a:solidFill>
                  <a:srgbClr val="6C8CFF"/>
                </a:solidFill>
                <a:latin typeface="Segoe UI"/>
              </a:rPr>
              <a:t>Questions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EAECF2"/>
                </a:solidFill>
                <a:latin typeface="Segoe UI"/>
              </a:rPr>
              <a:t>Taabish Ahmed Ansari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AA3B5"/>
                </a:solidFill>
                <a:latin typeface="Segoe UI"/>
              </a:rPr>
              <a:t>LEXORA — An Offline-First AI Assistant for Lawyers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